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6286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FreshGuard — early spoilage detection and supply-chain evidence platform. Team BIO SENTINEL.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reefer gap: you cannot refrigerate five million trucks.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outcome 1 is detection. Outcomes 2-4 are operational and commercial.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value in the buyer's language: margin, leverage, deployability.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customer is the buyer/distributor. Fleet learning and shelf-life are roadmap, not current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under Completed is demonstrable at the booth.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customer: the buyer/distributor. Telematics dealer channel is the fastest route to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5120640" cy="5120640"/>
          </a:xfrm>
          <a:prstGeom prst="ellipse">
            <a:avLst/>
          </a:prstGeom>
          <a:solidFill>
            <a:srgbClr val="1B7A4B">
              <a:alpha val="22000"/>
            </a:srgbClr>
          </a:solidFill>
          <a:ln w="12700">
            <a:solidFill>
              <a:srgbClr val="1B7A4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320040"/>
            <a:ext cx="3017520" cy="3017520"/>
          </a:xfrm>
          <a:prstGeom prst="ellipse">
            <a:avLst/>
          </a:prstGeom>
          <a:solidFill>
            <a:srgbClr val="8FD4B0">
              <a:alpha val="15000"/>
            </a:srgbClr>
          </a:solidFill>
          <a:ln w="12700">
            <a:solidFill>
              <a:srgbClr val="8FD4B0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8745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FreshGuard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Spoilage Detection &amp; Supply-Chain Evidence 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DB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₹4,000 device that brings cold-chain intelligence to the ordinary trucks that carry most of India's produce — and creates the evidence that decides who pays for the loss.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983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BIO SENTINEL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FC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— AI / ML, IoT, Smart Sensor, Industrial Automation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FC6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DeepTech Hackathon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Spoilage is discovered at the one moment when nothing can be done about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38728" cy="1572768"/>
          </a:xfrm>
          <a:prstGeom prst="roundRect">
            <a:avLst>
              <a:gd name="adj" fmla="val 523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72184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₹31,486 Cr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2095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every year to post-harvest damage in fruits and vegetables alone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25696" y="1325880"/>
            <a:ext cx="3538728" cy="1572768"/>
          </a:xfrm>
          <a:prstGeom prst="roundRect">
            <a:avLst>
              <a:gd name="adj" fmla="val 523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1472184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7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– 15%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90288" y="2057400"/>
            <a:ext cx="32095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fruit and vegetable output is lost after harvest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(guava &gt;15%, tomato ~12%)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84464" y="1325880"/>
            <a:ext cx="3538728" cy="1572768"/>
          </a:xfrm>
          <a:prstGeom prst="roundRect">
            <a:avLst>
              <a:gd name="adj" fmla="val 523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49056" y="1472184"/>
            <a:ext cx="3209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/ 62,000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449056" y="2057400"/>
            <a:ext cx="32095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Refrigerated trucks India has, against the number it needs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127248"/>
            <a:ext cx="5440680" cy="2798064"/>
          </a:xfrm>
          <a:prstGeom prst="roundRect">
            <a:avLst>
              <a:gd name="adj" fmla="val 2941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918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3657600"/>
            <a:ext cx="5029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is found when the doors open — after payment, after transport, with no time to act.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when, where or under whose custody produce degraded, so losses cannot be attributed or claimed.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absorb spoilage caused by suppliers, because after a nine-hour journey both look identical.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Refrigeration is not a reachable answer — projections reach only ~33,000 reefer vehicles by 2031.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27648" y="3127248"/>
            <a:ext cx="5440680" cy="2798064"/>
          </a:xfrm>
          <a:prstGeom prst="roundRect">
            <a:avLst>
              <a:gd name="adj" fmla="val 2941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29184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7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Solutions Fall Short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657600"/>
            <a:ext cx="50292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refrigerated vehicles — the small minority of produce freight.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log temperature, a lagging proxy that reports conditions, not the state of the food.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thresholds set in a lab require per-vehicle commissioning and recalibration — impractical at fleet scale.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costs of ₹25,000+ put them out of reach of small transporters and aggregators.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NABCONS post-harvest loss study (presented to Parliament, 2024); ICAR-CIPHET (2015); NCCD / NABCONS cold-chain infrastructure assessment.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₹4,000 device. Four business outcomes — only one of which is detection.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440680" cy="1572768"/>
          </a:xfrm>
          <a:prstGeom prst="roundRect">
            <a:avLst>
              <a:gd name="adj" fmla="val 523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591056"/>
            <a:ext cx="384048" cy="384048"/>
          </a:xfrm>
          <a:prstGeom prst="ellipse">
            <a:avLst/>
          </a:prstGeom>
          <a:solidFill>
            <a:srgbClr val="1B7A4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8191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bad cargo at the dock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9202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FreshGuard validates its own baseline against clean-air limits. Produce already degrading when loaded is flagged within two minutes — while the supplier is still present and the batch can still be refused.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27648" y="1371600"/>
            <a:ext cx="5440680" cy="1572768"/>
          </a:xfrm>
          <a:prstGeom prst="roundRect">
            <a:avLst>
              <a:gd name="adj" fmla="val 523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28816" y="1591056"/>
            <a:ext cx="384048" cy="384048"/>
          </a:xfrm>
          <a:prstGeom prst="ellipse">
            <a:avLst/>
          </a:prstGeom>
          <a:solidFill>
            <a:srgbClr val="1B7A4B"/>
          </a:solidFill>
          <a:ln/>
        </p:spPr>
      </p:sp>
      <p:sp>
        <p:nvSpPr>
          <p:cNvPr id="11" name="Text 9"/>
          <p:cNvSpPr/>
          <p:nvPr/>
        </p:nvSpPr>
        <p:spPr>
          <a:xfrm>
            <a:off x="6528816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158191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the destination in transit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19202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gas, humidity and door telemetry streams to a dashboard, so the receiving warehouse knows a load is deteriorating hours before it arrives and can prepare for 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200400"/>
            <a:ext cx="5440680" cy="1572768"/>
          </a:xfrm>
          <a:prstGeom prst="roundRect">
            <a:avLst>
              <a:gd name="adj" fmla="val 523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419856"/>
            <a:ext cx="384048" cy="384048"/>
          </a:xfrm>
          <a:prstGeom prst="ellipse">
            <a:avLst/>
          </a:prstGeom>
          <a:solidFill>
            <a:srgbClr val="1B7A4B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41071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warehouse outbound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7490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Consignments are ranked by measured condition, so the stock closest to the edge is distributed first — the same spoilage, but far less revenue lost to it.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27648" y="3200400"/>
            <a:ext cx="5440680" cy="1572768"/>
          </a:xfrm>
          <a:prstGeom prst="roundRect">
            <a:avLst>
              <a:gd name="adj" fmla="val 523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28816" y="3419856"/>
            <a:ext cx="384048" cy="384048"/>
          </a:xfrm>
          <a:prstGeom prst="ellipse">
            <a:avLst/>
          </a:prstGeom>
          <a:solidFill>
            <a:srgbClr val="1B7A4B"/>
          </a:solidFill>
          <a:ln/>
        </p:spPr>
      </p:sp>
      <p:sp>
        <p:nvSpPr>
          <p:cNvPr id="21" name="Text 19"/>
          <p:cNvSpPr/>
          <p:nvPr/>
        </p:nvSpPr>
        <p:spPr>
          <a:xfrm>
            <a:off x="6528816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341071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the loss with evidence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40880" y="37490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 is signed on-device and hash-chained into a tamper-evident timeline, turning an unwinnable argument into a documented fact.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047488"/>
            <a:ext cx="11055096" cy="1042416"/>
          </a:xfrm>
          <a:prstGeom prst="roundRect">
            <a:avLst>
              <a:gd name="adj" fmla="val 7895"/>
            </a:avLst>
          </a:prstGeom>
          <a:solidFill>
            <a:srgbClr val="12362A"/>
          </a:solidFill>
          <a:ln w="12700">
            <a:solidFill>
              <a:srgbClr val="1236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1755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possible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94760" y="5148072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FreshGuard sets no fixed thresholds. It measures the air inside the container at shipment start, adopts it as that trip's baseline, and alerts on deviation — with a commodity profile selected at loading. This eliminates per-vehicle field calibration, so the sensing works in vehicles nobody will ever service.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products monitor the refrigerated minority and need calibrating. We serve the majority and calibrate ourselves.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5096" cy="914400"/>
        </p:xfrm>
        <a:graphic>
          <a:graphicData uri="http://schemas.openxmlformats.org/drawingml/2006/table">
            <a:tbl>
              <a:tblPr/>
              <a:tblGrid>
                <a:gridCol w="2093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Conventional cold-chain trackers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FreshGuard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vehicle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Refrigerated trucks only (~10,000 in India)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goods vehicle, refrigerated or not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sensed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— a lagging proxy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Volatile compounds — direct evidence of decay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limits set in a laboratory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Self-captured baseline, every single trip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Per-vehicle setup by a technician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fit it and close the doors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at origin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detected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within ~2 minutes of loading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trail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log, editable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Signed, hash-chained, tamper-evident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23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Indicative 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23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₹25,000+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236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~₹4,000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66928" y="4224528"/>
            <a:ext cx="3538728" cy="1700784"/>
          </a:xfrm>
          <a:prstGeom prst="roundRect">
            <a:avLst>
              <a:gd name="adj" fmla="val 4839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4379976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margin, not just waste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68096" y="4700016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one percentage point of an 8% loss on ₹50 crore of produce is ₹50 lakh a year — against ₹4 lakh of hardware for a 100-truck fleet.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425696" y="4224528"/>
            <a:ext cx="3538728" cy="1700784"/>
          </a:xfrm>
          <a:prstGeom prst="roundRect">
            <a:avLst>
              <a:gd name="adj" fmla="val 4839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26864" y="4379976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loss into leverage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626864" y="4700016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loss the buyer caused from loss the buyer was sold, creating supplier accountability that compounds every season.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84464" y="4224528"/>
            <a:ext cx="3538728" cy="1700784"/>
          </a:xfrm>
          <a:prstGeom prst="roundRect">
            <a:avLst>
              <a:gd name="adj" fmla="val 4839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85632" y="4379976"/>
            <a:ext cx="3136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where nothing else can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485632" y="4700016"/>
            <a:ext cx="31363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commissioning means fitting 1,000 vehicles costs the same per unit as fitting one.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gets us in the vehicle. The evidence record is what makes us hard to remove.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6766560" cy="9144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customer gets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Indicative pricing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One-time device sale, per vehicle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₹7,000 – 9,000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subscription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Dashboard, live monitoring,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₹300 – 500 / vehicle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licensing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 deployment for large aggregators and retail chains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licence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&amp; 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Exportable custody records for disputes, insurance and food-safety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Per-report or bundled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quality scorecards and route-risk reporting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7607808" y="1627632"/>
            <a:ext cx="4014216" cy="1298448"/>
          </a:xfrm>
          <a:prstGeom prst="roundRect">
            <a:avLst>
              <a:gd name="adj" fmla="val 6338"/>
            </a:avLst>
          </a:prstGeom>
          <a:solidFill>
            <a:srgbClr val="12362A"/>
          </a:solidFill>
          <a:ln w="12700">
            <a:solidFill>
              <a:srgbClr val="1236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08976" y="177393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customer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08976" y="210312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/ distributor — the party that today absorbs losses it did not cause. Outcomes 1 and 4 pay them directly.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07808" y="3072384"/>
            <a:ext cx="4014216" cy="1463040"/>
          </a:xfrm>
          <a:prstGeom prst="roundRect">
            <a:avLst>
              <a:gd name="adj" fmla="val 5625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08976" y="3218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customers stay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808976" y="3547872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supplier contracts reference FreshGuard records, switching is not a data migration — it is a renegotiation. Evidence becomes authoritative only once both sides accept it, and that position compounds.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07808" y="4681728"/>
            <a:ext cx="4014216" cy="1298448"/>
          </a:xfrm>
          <a:prstGeom prst="roundRect">
            <a:avLst>
              <a:gd name="adj" fmla="val 6338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08976" y="4818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model works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808976" y="5138928"/>
            <a:ext cx="3611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device needs no commissioning, it sells through distribution rather than field engineers. A transporter can buy one, fit it, and be operational the same day.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6928" y="431596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Revenue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66928" y="4645152"/>
            <a:ext cx="3291840" cy="621792"/>
          </a:xfrm>
          <a:prstGeom prst="roundRect">
            <a:avLst>
              <a:gd name="adj" fmla="val 13235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4700016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learning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13232" y="4919472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pooled across shipments to learn each commodity's normal profile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041648" y="4645152"/>
            <a:ext cx="3291840" cy="621792"/>
          </a:xfrm>
          <a:prstGeom prst="roundRect">
            <a:avLst>
              <a:gd name="adj" fmla="val 13235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87952" y="4700016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scoring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187952" y="4919472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ratings sold to buyers, built from accumulated origin-quality flags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66928" y="5358384"/>
            <a:ext cx="3291840" cy="621792"/>
          </a:xfrm>
          <a:prstGeom prst="roundRect">
            <a:avLst>
              <a:gd name="adj" fmla="val 13235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" y="541324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Shelf-life prediction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13232" y="563270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Remaining-hours estimation, pending experimental validation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041648" y="5358384"/>
            <a:ext cx="3291840" cy="621792"/>
          </a:xfrm>
          <a:prstGeom prst="roundRect">
            <a:avLst>
              <a:gd name="adj" fmla="val 13235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187952" y="541324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partnerships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187952" y="5632704"/>
            <a:ext cx="2999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custody records underwriting spoilage cover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device, a live pipeline, and a spoilage response we have measured ourselves.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3538728" cy="3611880"/>
          </a:xfrm>
          <a:prstGeom prst="roundRect">
            <a:avLst>
              <a:gd name="adj" fmla="val 2326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508760"/>
            <a:ext cx="1737360" cy="329184"/>
          </a:xfrm>
          <a:prstGeom prst="roundRect">
            <a:avLst>
              <a:gd name="adj" fmla="val 44444"/>
            </a:avLst>
          </a:prstGeom>
          <a:solidFill>
            <a:srgbClr val="1B7A4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5087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" y="1975104"/>
            <a:ext cx="313639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ESP32 prototype — gas (MQ135), humidity and door sensing operational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Self-baselining implemented: warm-up, clean-air capture, deviation detection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Spoilage response verified on the bench — a sealed cut-onion sample produces a clear, repeatable rise against baseline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telemetry live: ESP32 → Next.js API → Supabase → dashboard, posting every 3 seconds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deployed with per-vehicle views and alert states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OLED display and local buzzer alerting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25696" y="1325880"/>
            <a:ext cx="3538728" cy="3611880"/>
          </a:xfrm>
          <a:prstGeom prst="roundRect">
            <a:avLst>
              <a:gd name="adj" fmla="val 2326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6864" y="1508760"/>
            <a:ext cx="1737360" cy="329184"/>
          </a:xfrm>
          <a:prstGeom prst="roundRect">
            <a:avLst>
              <a:gd name="adj" fmla="val 44444"/>
            </a:avLst>
          </a:prstGeom>
          <a:solidFill>
            <a:srgbClr val="12362A"/>
          </a:solidFill>
          <a:ln/>
        </p:spPr>
      </p:sp>
      <p:sp>
        <p:nvSpPr>
          <p:cNvPr id="10" name="Text 8"/>
          <p:cNvSpPr/>
          <p:nvPr/>
        </p:nvSpPr>
        <p:spPr>
          <a:xfrm>
            <a:off x="4626864" y="15087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Performance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26864" y="1975104"/>
            <a:ext cx="313639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capture completes within ~2 minutes of power-on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repeatable separation between clean-air baseline and a spoilage-proxy sample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channel returns to baseline after exposure — confirming continuous measurement rather than threshold latching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chain confirmed reliable end-to-end under live network conditions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for the finals of a prior hackathon on this concept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84464" y="1325880"/>
            <a:ext cx="3538728" cy="3611880"/>
          </a:xfrm>
          <a:prstGeom prst="roundRect">
            <a:avLst>
              <a:gd name="adj" fmla="val 2326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85632" y="1508760"/>
            <a:ext cx="1737360" cy="329184"/>
          </a:xfrm>
          <a:prstGeom prst="roundRect">
            <a:avLst>
              <a:gd name="adj" fmla="val 44444"/>
            </a:avLst>
          </a:prstGeom>
          <a:solidFill>
            <a:srgbClr val="E07B18"/>
          </a:solidFill>
          <a:ln/>
        </p:spPr>
      </p:sp>
      <p:sp>
        <p:nvSpPr>
          <p:cNvPr id="14" name="Text 12"/>
          <p:cNvSpPr/>
          <p:nvPr/>
        </p:nvSpPr>
        <p:spPr>
          <a:xfrm>
            <a:off x="8485632" y="15087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85632" y="1975104"/>
            <a:ext cx="3136392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Multi-hour spoilage trials across tomato, onion and leafy greens to characterise deviation curves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the clean-air sanity band driving the origin-quality alert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Commodity Mode profiles for the first four crops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Signed, hash-chained record format and exportable cargo certificate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a digital VOC sensor (SGP30 / BME680) for stability and manufacturability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 with a regional produce transporter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5138928"/>
            <a:ext cx="11055096" cy="786384"/>
          </a:xfrm>
          <a:prstGeom prst="roundRect">
            <a:avLst>
              <a:gd name="adj" fmla="val 10465"/>
            </a:avLst>
          </a:prstGeom>
          <a:solidFill>
            <a:srgbClr val="12362A"/>
          </a:solidFill>
          <a:ln w="12700">
            <a:solidFill>
              <a:srgbClr val="1236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2943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Demonstrable live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529437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CE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under Completed can be shown working at our booth — including the gas channel rising and returning to baseline against a sealed sample, in real time.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 STRATEGY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87782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with the party that pays for the loss, then expand across their supplier network.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72184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6384" y="183794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and vegetable aggregators and mandi-level wholesalers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transport operators running unrefrigerated fleets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Producer Organisations shipping to distant markets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retail and quick-commerce grocery chains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collection and distribution networks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27648" y="1325880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47104" y="1472184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47104" y="1837944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pilots with two or three regional aggregators, priced at hardware cost in exchange for route data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Loss-reduction case studies from those pilots as the primary sales asset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with FPOs and agri-cooperatives for bundled distribution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demonstrations at agri and cold-chain trade exhibitions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685032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831336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" y="4197096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becomes the operational record of every shipment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scorecards accumulate value over time and cannot be transferred to a competitor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firmware and model improvements delivered over the air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support for a segment unaccustomed to receiving any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27648" y="3685032"/>
            <a:ext cx="5440680" cy="2103120"/>
          </a:xfrm>
          <a:prstGeom prst="roundRect">
            <a:avLst>
              <a:gd name="adj" fmla="val 3913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47104" y="3831336"/>
            <a:ext cx="500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 Channels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47104" y="4197096"/>
            <a:ext cx="49834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B2B sales to aggregators and fleet operators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sales through existing vehicle-telematics and GPS-tracker dealers, who already sell to this exact customer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 and cold-chain expos, FPO networks</a:t>
            </a:r>
            <a:endParaRPr lang="en-US" sz="11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cold-chain and post-harvest schemes as a subsidy route for buyers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1486</Words>
  <Application>Microsoft Office PowerPoint</Application>
  <PresentationFormat>Widescreen</PresentationFormat>
  <Paragraphs>170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FreshGuard — DeepTech</dc:title>
  <dc:subject>PptxGenJS Presentation</dc:subject>
  <dc:creator>Team BIO SENTINEL</dc:creator>
  <cp:lastModifiedBy>delldjmnt44@outlook.com</cp:lastModifiedBy>
  <cp:revision>1</cp:revision>
  <dcterms:created xsi:type="dcterms:W3CDTF">2026-07-30T14:43:46Z</dcterms:created>
  <dcterms:modified xsi:type="dcterms:W3CDTF">2026-07-30T15:40:54Z</dcterms:modified>
</cp:coreProperties>
</file>
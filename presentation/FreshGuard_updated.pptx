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7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FreshGuard — early spoilage detection and supply-chain evidence platform. Team BIO SENTINEL.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line: temperature compliance is not the same as freshness. A perfect cold log and spoiled cargo are entirely 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outcome 1 is detection. Outcomes 2-4 are operational and commercial.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 in the buyer's language: margin, leverage, deployability.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customer is the buyer/distributor. Fleet learning and shelf-life are roadmap, not current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under Completed is demonstrable at the booth.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customer: cold-chain operators. Telematics dealer channel is the fastest route to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120640" cy="5120640"/>
          </a:xfrm>
          <a:prstGeom prst="ellipse">
            <a:avLst/>
          </a:prstGeom>
          <a:solidFill>
            <a:srgbClr val="1B7A4B">
              <a:alpha val="22000"/>
            </a:srgbClr>
          </a:solidFill>
          <a:ln w="12700">
            <a:solidFill>
              <a:srgbClr val="1B7A4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320040"/>
            <a:ext cx="3017520" cy="3017520"/>
          </a:xfrm>
          <a:prstGeom prst="ellipse">
            <a:avLst/>
          </a:prstGeom>
          <a:solidFill>
            <a:srgbClr val="8FD4B0">
              <a:alpha val="15000"/>
            </a:srgbClr>
          </a:solidFill>
          <a:ln w="12700">
            <a:solidFill>
              <a:srgbClr val="8FD4B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745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FreshGuard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Spoilage Detection &amp; Supply-Chain Evidence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D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proves the truck was cold. It cannot prove the food is still good. FreshGuard measures the cargo itself — and creates the evidence that decides who pays when a load is lost.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BIO SENTINEL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C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— AI / ML, IoT, Smart Sensor, Industrial Automation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C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DeepTech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refrigerated truck can hold 4°C the whole way and still deliver spoiled cargo.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38728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72184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₹31,486 Cr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095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year to post-harvest damage in fruits and vegetables alone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25696" y="1325880"/>
            <a:ext cx="3538728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472184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90288" y="2057400"/>
            <a:ext cx="32095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fruit and vegetable output is lost after harvest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(guava &gt;15%, tomato ~12%)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84464" y="1325880"/>
            <a:ext cx="3538728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9056" y="1472184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$12.6B → $27.4B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449056" y="2057400"/>
            <a:ext cx="32095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cold-chain transport market by 2034 — more perishable cargo in transit every year, monitored only by temperature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127248"/>
            <a:ext cx="5440680" cy="2798064"/>
          </a:xfrm>
          <a:prstGeom prst="roundRect">
            <a:avLst>
              <a:gd name="adj" fmla="val 2941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918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slows decay; it does not stop it. Cargo loaded already degrading arrives spoiled despite a perfect temperature log.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is found when the doors open — after payment, after transport, with no time to act.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when, where or under whose custody produce degraded, so losses cannot be attributed or claimed.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absorb spoilage their suppliers caused, because after a nine-hour journey good and poor consignments look identical.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7648" y="3127248"/>
            <a:ext cx="5440680" cy="2798064"/>
          </a:xfrm>
          <a:prstGeom prst="roundRect">
            <a:avLst>
              <a:gd name="adj" fmla="val 2941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2918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Fall Short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65760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"was the truck cold enough?" — never "is the cargo still good?"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a lagging proxy. It reports conditions, not the state of the food.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set in a lab need per-vehicle commissioning and recalibration — impractical across a fleet.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logs are editable, so they settle no dispute about who caused a loss.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NABCONS post-harvest loss study, presented to Parliament 2024  ·  ICAR-CIPHET (2015)  ·  IMARC Group, India Cold Chain Transport Market 2025–2034  ·  NCCD / NABCONS cold-chain capacity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cargo, not just the container. Four business outcomes — only one of them is detection.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591056"/>
            <a:ext cx="384048" cy="384048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819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bad cargo at the dock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FreshGuard validates its own baseline against clean-air limits. Produce already degrading when loaded is flagged within two minutes — while the supplier is still present and the batch can still be refused.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7648" y="137160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28816" y="1591056"/>
            <a:ext cx="384048" cy="384048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5819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the destination in transit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gas, humidity and door telemetry streams to a dashboard, so the receiving warehouse knows a load is deteriorating hours before it arrives and can prepare for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0040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419856"/>
            <a:ext cx="384048" cy="384048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4107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warehouse outbound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7490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Consignments are ranked by measured condition, so the stock closest to the edge is distributed first — the same spoilage, but far less revenue lost to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7648" y="320040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3419856"/>
            <a:ext cx="384048" cy="384048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21" name="Text 19"/>
          <p:cNvSpPr/>
          <p:nvPr/>
        </p:nvSpPr>
        <p:spPr>
          <a:xfrm>
            <a:off x="6528816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4107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the loss with evidence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7490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signed on-device and hash-chained into a tamper-evident timeline, turning an unwinnable argument into a documented fact.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5096" cy="1042416"/>
          </a:xfrm>
          <a:prstGeom prst="roundRect">
            <a:avLst>
              <a:gd name="adj" fmla="val 7895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175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possible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5120640"/>
            <a:ext cx="7589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FreshGuard sets no fixed thresholds. It measures the air inside the container at shipment start, adopts it as that trip's baseline, and alerts on deviation — with a commodity profile selected at loading. The refrigerated environment is what makes this precise: a sealed volume lets spoilage gases accumulate, forced air circulation carries them to the sensor, and a stable 4°C removes the temperature drift that would otherwise corrupt the reading.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measures the container. We measure what is inside it.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5096" cy="2633472"/>
        </p:xfrm>
        <a:graphic>
          <a:graphicData uri="http://schemas.openxmlformats.org/drawingml/2006/table">
            <a:tbl>
              <a:tblPr/>
              <a:tblGrid>
                <a:gridCol w="20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cold-chain trackers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FreshGuard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answered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"Was the truck cold enough?"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"Is the cargo still good?"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sensed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— a lagging proxy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compounds — direct evidence of decay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limits set in a laboratory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Self-captured baseline, every single trip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Per-vehicle setup by a technician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fit it and close the doors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at origin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detected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within ~2 minutes of loading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log, editable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Signed, hash-chained, tamper-evident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3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unit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3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₹25,000+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3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₹14,000 – 16,000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66928" y="4224528"/>
            <a:ext cx="3538728" cy="1700784"/>
          </a:xfrm>
          <a:prstGeom prst="roundRect">
            <a:avLst>
              <a:gd name="adj" fmla="val 4839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43799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margin, not just waste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8096" y="470001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one percentage point of an 8% loss on ₹50 crore of produce is ₹50 lakh a year — against ₹15 lakh to equip a 100-vehicle fleet.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25696" y="4224528"/>
            <a:ext cx="3538728" cy="1700784"/>
          </a:xfrm>
          <a:prstGeom prst="roundRect">
            <a:avLst>
              <a:gd name="adj" fmla="val 4839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26864" y="43799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loss into leverage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26864" y="470001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loss the buyer caused from loss the buyer was sold, creating supplier accountability that compounds every season.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84464" y="4224528"/>
            <a:ext cx="3538728" cy="1700784"/>
          </a:xfrm>
          <a:prstGeom prst="roundRect">
            <a:avLst>
              <a:gd name="adj" fmla="val 4839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85632" y="43799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without technicians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485632" y="470001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commissioning means equipping 1,000 vehicles costs the same per unit as equipping one — the barrier that keeps monitoring off most of the fleet today.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gets us into the cold chain. The evidence record is what makes us hard to remove.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6766560" cy="240995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customer gets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device sale, per vehicle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₹14,000 – 16,000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live monitoring,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₹1,000 / vehicle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licensing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deployment for large aggregators and retail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licence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Exportable custody records for disputes, insurance and food-safety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Per-report or bundled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quality scorecards and route-risk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607808" y="1627632"/>
            <a:ext cx="4014216" cy="1298448"/>
          </a:xfrm>
          <a:prstGeom prst="roundRect">
            <a:avLst>
              <a:gd name="adj" fmla="val 6338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08976" y="17739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customer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08976" y="210312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logistics operators and the buyers they serve — the parties that today absorb losses they did not cause. Outcomes 1 and 4 pay them directly.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07808" y="3072384"/>
            <a:ext cx="4014216" cy="1463040"/>
          </a:xfrm>
          <a:prstGeom prst="roundRect">
            <a:avLst>
              <a:gd name="adj" fmla="val 562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08976" y="3218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stay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08976" y="354787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supplier contracts reference FreshGuard records, switching is not a data migration — it is a renegotiation. Evidence becomes authoritative only once both sides accept it, and that position compounds.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07808" y="4681728"/>
            <a:ext cx="4014216" cy="1298448"/>
          </a:xfrm>
          <a:prstGeom prst="roundRect">
            <a:avLst>
              <a:gd name="adj" fmla="val 6338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08976" y="4818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 works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08976" y="5138928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device needs no commissioning, it sells through distribution rather than field engineers. A transporter can buy one, fit it, and be operational the same day.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" y="4315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66928" y="4645152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470001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chambers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3232" y="491947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device in static cold rooms — 8,000+ facilities, where produce sits for weeks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041648" y="4645152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87952" y="470001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187952" y="491947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ratings sold to buyers, built from accumulated origin-quality flags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5358384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41324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learning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13232" y="563270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pooled across shipments to learn each commodity's normal profile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041648" y="5358384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87952" y="541324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partnerships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187952" y="563270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custody records underwriting spoilage cover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device, a live pipeline, and a spoilage response we have measured ourselves.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38728" cy="3611880"/>
          </a:xfrm>
          <a:prstGeom prst="roundRect">
            <a:avLst>
              <a:gd name="adj" fmla="val 2326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508760"/>
            <a:ext cx="1737360" cy="329184"/>
          </a:xfrm>
          <a:prstGeom prst="roundRect">
            <a:avLst>
              <a:gd name="adj" fmla="val 44444"/>
            </a:avLst>
          </a:prstGeom>
          <a:solidFill>
            <a:srgbClr val="1B7A4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508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1975104"/>
            <a:ext cx="3136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ESP32 prototype — gas (MQ135), humidity and door sensing operational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Self-baselining implemented: warm-up, clean-air capture, deviation detection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response verified on the bench — a sealed cut-onion sample produces a clear, repeatable rise against baseline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telemetry live: ESP32 → Next.js API → Supabase → dashboard, posting every 3 seconds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deployed with per-vehicle views and alert states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OLED display and local buzzer alerting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25696" y="1325880"/>
            <a:ext cx="3538728" cy="3611880"/>
          </a:xfrm>
          <a:prstGeom prst="roundRect">
            <a:avLst>
              <a:gd name="adj" fmla="val 2326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508760"/>
            <a:ext cx="1737360" cy="329184"/>
          </a:xfrm>
          <a:prstGeom prst="roundRect">
            <a:avLst>
              <a:gd name="adj" fmla="val 44444"/>
            </a:avLst>
          </a:prstGeom>
          <a:solidFill>
            <a:srgbClr val="12362A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1508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6864" y="1975104"/>
            <a:ext cx="3136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capture completes within ~2 minutes of power-on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repeatable separation between clean-air baseline and a spoilage-proxy sample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channel returns to baseline after exposure — confirming continuous measurement rather than threshold latching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chain confirmed reliable end-to-end under live network conditions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the finals of a prior hackathon on this concept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1325880"/>
            <a:ext cx="3538728" cy="3611880"/>
          </a:xfrm>
          <a:prstGeom prst="roundRect">
            <a:avLst>
              <a:gd name="adj" fmla="val 2326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85632" y="1508760"/>
            <a:ext cx="1737360" cy="329184"/>
          </a:xfrm>
          <a:prstGeom prst="roundRect">
            <a:avLst>
              <a:gd name="adj" fmla="val 44444"/>
            </a:avLst>
          </a:prstGeom>
          <a:solidFill>
            <a:srgbClr val="E07B18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508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85632" y="1975104"/>
            <a:ext cx="3136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Multi-hour spoilage trials across tomato, onion and leafy greens to characterise deviation curves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clean-air sanity band per commodity, driving the origin-quality alert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Mode profiles for the first four crops, plus temperature/humidity compensation of the gas channel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hash-chained record format and exportable cargo certificate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Figaro TGS2600 for ethylene-specific sensing, closing the ripening gap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with a regional produce transporter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38928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294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 live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52943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under Completed can be shown working at our booth — including the gas channel rising and returning to baseline against a sealed sample,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 STRATEGY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the party that pays for the loss, then expand across their supplier network.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7218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183794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logistics operators running reefer fleets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and organised retail grocery cold chains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collection and distribution networks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and vegetable exporters meeting import quality standards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storage operators and packhouses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27648" y="13258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47104" y="147218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47104" y="183794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 with two or three cold-chain operators, priced at hardware cost in exchange for route data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Loss-reduction case studies from those pilots as the primary sales asset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cold-chain transport market is growing ~8.6% a year and the reefer fleet is projected to triple by 2031 — every new vehicle is a new install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demonstrations at agri and cold-chain trade exhibitions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685032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831336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4197096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becomes the operational record of every shipment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 accumulate value over time and cannot be transferred to a competitor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firmware and model improvements delivered over the air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support for a segment unaccustomed to receiving any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27648" y="3685032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3831336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Channels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47104" y="4197096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sales to aggregators and fleet operators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sales through existing vehicle-telematics and GPS-tracker dealers, who already sell to this exact customer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and cold-chain expos, FPO networks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cold-chain and post-harvest schemes as a subsidy route for buyers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1613</Words>
  <Application>Microsoft Office PowerPoint</Application>
  <PresentationFormat>Widescreen</PresentationFormat>
  <Paragraphs>170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FreshGuard — DeepTech</dc:title>
  <dc:subject>PptxGenJS Presentation</dc:subject>
  <dc:creator>Team BIO SENTINEL</dc:creator>
  <cp:lastModifiedBy>delldjmnt44@outlook.com</cp:lastModifiedBy>
  <cp:revision>1</cp:revision>
  <dcterms:created xsi:type="dcterms:W3CDTF">2026-07-30T16:25:32Z</dcterms:created>
  <dcterms:modified xsi:type="dcterms:W3CDTF">2026-07-31T06:12:54Z</dcterms:modified>
</cp:coreProperties>
</file>